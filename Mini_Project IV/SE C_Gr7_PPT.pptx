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9"/>
  </p:notesMasterIdLst>
  <p:sldIdLst>
    <p:sldId id="256" r:id="rId2"/>
    <p:sldId id="270" r:id="rId3"/>
    <p:sldId id="258" r:id="rId4"/>
    <p:sldId id="275" r:id="rId5"/>
    <p:sldId id="266" r:id="rId6"/>
    <p:sldId id="261" r:id="rId7"/>
    <p:sldId id="267" r:id="rId8"/>
    <p:sldId id="262" r:id="rId9"/>
    <p:sldId id="276" r:id="rId10"/>
    <p:sldId id="269" r:id="rId11"/>
    <p:sldId id="272" r:id="rId12"/>
    <p:sldId id="277" r:id="rId13"/>
    <p:sldId id="278" r:id="rId14"/>
    <p:sldId id="265" r:id="rId15"/>
    <p:sldId id="274" r:id="rId16"/>
    <p:sldId id="268" r:id="rId17"/>
    <p:sldId id="260" r:id="rId18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1196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18F6880F-8817-3E89-F420-A3FDB16388A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FD65754-50EC-8231-22D8-590BB768339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3F0CDE3-6E2A-38FB-FD52-353EA71F9FB3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CCC0A5E-079F-D0E1-0679-1AFDE54C42A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4045F8B-9FB2-B934-B684-A79533CEC21F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9ABCF7A-00B6-0FFE-9008-CBC395E00D5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E4202BF-9C38-4233-A96F-097A5FA31D6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1EE5E350-20B4-F9A0-C2FE-0EF43F093E4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FE1495D-1D98-41E5-9D73-A4A5B08D4F0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FA313F7D-B493-312E-02C6-CA8EA3F3A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9AC71A71-5E8F-4CE0-2EA5-BAC6207432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00C0B143-5AE7-EAE0-2508-61954474FB8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C8F5BDA-2015-4FC5-93FF-126A345F43AB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61742ED9-D653-40ED-6D3F-DEA1815A21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2D2709DB-D448-6B52-577A-C533EC11F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69BCB691-CE86-A1AC-975C-7821ACC46A2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B5B3D9-9FCB-4189-AA82-B04F2704E448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0B68757F-8890-09D7-CA2F-B47CEE782E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CD6E45E7-7E4B-35D8-F45F-F0AE428A1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A93AC-A8E6-C9AA-8B87-26DC64B3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C644EB21-E48E-1EFF-15C8-5344DBA6EB9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B5B3D9-9FCB-4189-AA82-B04F2704E448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3972A3E7-0E86-6029-868A-923852C35E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41481DC9-F653-368B-20B0-C461272F9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975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AF391682-577F-521F-0007-CE8715D5351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320DE48-D3BE-41AE-9E6E-1F4667FFAB1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A549C55C-3B99-9A77-3122-7F55A01BDF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6A0E063-7727-BAD5-C960-044748290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583E6324-F267-8612-E93F-53B7DCEE1C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91697C-8964-4692-91C0-3B5C7E166BE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D25FE35D-BF73-C36C-9736-BB89550ED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5F2DF502-7668-13C0-C401-8F4D1B76C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40BC6202-9CD2-88FF-86EA-872DA643F4C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120F25-C366-479F-9B5D-1324826E33E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IN" altLang="en-US" sz="1400"/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D757D4AC-DC5B-7E08-2DFF-3D5559AF9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6975667D-9D75-7C21-A325-B9DBEDB85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3FCCE-D1D1-DAC1-78B1-37A8D136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6609E146-7B8A-7A03-44E7-ABF3FECE4EE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120F25-C366-479F-9B5D-1324826E33E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IN" altLang="en-US" sz="1400"/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ED5E86F4-61F1-F9FA-E98C-98FD77FB97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0E2EA2EA-F67B-C655-D5FE-F888EAA9D4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0037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003B13A9-D19F-F015-3398-3807031D819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F59DB5-BA18-4F57-BB18-0D42A0982B7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DF3AC565-F307-DDC2-E010-3CC6BCDA4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6F3730CB-2165-9276-8229-88BE1908EC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5800B-4EFF-01DF-815E-232E7F50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D8B47E31-9CD9-AFB7-AE97-1BC574F5AB5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F59DB5-BA18-4F57-BB18-0D42A0982B7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76FBF94F-8276-8903-3FC7-9EDB128776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5F77BC7C-CF66-F676-E01F-9F708B5BA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8536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F9C55-53AF-FCCD-BF79-074DED6E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527DCAA0-29B0-D345-DC9B-48BD8F44A15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F59DB5-BA18-4F57-BB18-0D42A0982B7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4AA8971A-A69E-B89A-D79C-D4582745A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142F7235-86E8-0193-D0C7-241A197A4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8304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D64D7E7E-16C3-CBE7-B192-0CFF27245B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E751C58-4868-45A1-AF84-3BEB66D4A33D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 altLang="en-US" sz="1400"/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1F5C8802-B7A1-81EE-4395-AE66A5F3A9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D96FB6B4-965C-E430-D685-578F77196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CCA63F2D-FB95-C7C6-FD25-06A376EDCAF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9C1180-BF6B-4B71-8D13-A392AAC64AC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DA277668-5932-5C32-BDA6-F998E3BEA3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913A888D-BCF0-3D5C-376F-567CE5C85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8262171E-0327-FC6B-D471-F63071FD7DF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9B8A1E-CF72-4E47-9B12-C7BE9CA729FD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IN" altLang="en-US" sz="1400"/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C57454E8-01CA-5C35-1F65-9F3ADF544C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8B19308D-9178-FE2F-A15D-CFA48E8F2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8DE72BCB-E5A1-3DC8-3525-4940EBE678E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D73E52A-B7A0-4220-9090-E5F30B1D4108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IN" altLang="en-US" sz="1400"/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DC54A83D-2281-13F3-FE2F-50CCC83E8C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89EB6E2D-67D4-723D-A2BF-FBCDFD06A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5662F056-F0B1-C830-ACF4-2AAC64924996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3BEA347-FF90-62F3-F6A2-0DD3AF5713EF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6217129-BAEF-A12F-494A-0EAF46E25149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EE3967F9-96B0-6522-8757-C706B3F386DE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57502DB4-FBA9-C9D1-4FC6-39CA523B4D42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3A5C3395-4AF5-E8F1-A84A-90B8927EEDC8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5BE9B99B-952A-A321-CADE-98C89EF6E6A6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495EC45E-3D5C-D981-EA14-1913E48C6B61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41182CF1-1108-6C20-1FBA-95082AFCDE26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03B2D52B-C05D-97F6-7DB8-5B981641082F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A60F51C5-E84D-B4FB-192D-F2BFB08A78E7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0D6ACA3-ABCE-7D6E-A9C8-090FD382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CA62D-5B4B-4D16-B2AB-4FC483D51DAB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3F3D8C8-4F81-2A94-E389-9068BB08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E5303A8-83B5-BE26-1E49-161E7700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6CCB8-7391-4295-AD39-6BFF88E04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0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4582-EBC1-53DA-14DF-75C0CE80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F3EB0-B792-4BA6-8E66-1B9D5F911FAA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4B0FF-6621-F5E6-AF1B-6F31B1D6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0A560-D57E-25D9-282C-FD1A2CBC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E7FDC-DA8E-484D-A51F-07714972F0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6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5AC1-4A19-DD1F-FC48-611AC122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47C79-24F3-4038-BBB3-A41C7C76B095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2B51F-051D-8BFC-28A0-FE820138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7FA14-B954-C7C0-632F-650EF132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96743-A25F-40BC-BA3A-32D92FB162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1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3F5062C-0EBA-4C9A-246D-81D34E41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9FC15-5B28-47DA-94A0-B8BA83725447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6EDA2F-C8E5-8884-577F-D8431A4F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411856-6F4B-9770-FD77-32E53509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38F4A-B733-4E36-94BE-BB49F5A47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3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4020220-EBBA-DACD-3BCD-228CC97F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1201B-B4AE-414E-8E7E-6C1174E9C7FB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261190-293E-7BED-4D51-8FC87EA9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6B855F-4B5E-9DBB-754C-C024D2E2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34814-1ABB-455B-8F64-80E7D7EEB9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2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0CAD293-8F31-C9E2-6618-50AD7F8D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3AAFA-3C74-4048-BD75-7AF8010DB1A8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0CA55FC-7B2D-E945-3246-4C886441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20914F-2C2B-0AE5-AD69-8AF7A470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43FBF-BACC-4D65-8019-EB986C7C0D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4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71EDC78-EEE9-6DBD-9BD6-34816934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197-68F3-49F3-BB92-A135DE9B2949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11C569B-578A-7BD9-BFCC-86955E4B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46D8BE-DD14-22D5-E73A-5E7883B5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56532-4CA1-4477-9D5C-B993090FB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6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EC3C4A-21E4-6886-A5D9-B03332EE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0FE2E-6AA5-427D-9ACA-B3ECAAE042C4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ADADFA-48AF-95EB-5BA6-2EBDEF7B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82A8F7-90F7-14D9-C573-8EC87DD5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EAE92-B4AD-435B-A980-BFD0554E4C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C85732-53A9-D564-3562-DE16594D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A6808-12EA-4675-B98E-D75969565DF0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7C7DC4-224E-548B-0798-AB90013D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B11441-F253-2ED0-187D-AF96E81A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15997-136C-4081-896C-E6EC2326E8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71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0E3B2-1503-D225-9CD0-EAF6ECBA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0C748-B28E-4C9A-83D3-897E9D6AF437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D2D3E-D879-FABC-26B5-EAF500B6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FC5A1-522E-2BE5-239D-05BBC9F1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B57B1-9793-4DBB-BAA9-81826906F3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F121AD-0286-08AB-B39B-6CB5E9437A9C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6C216-19C9-3074-0EF6-E8B35A2CF773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6120D4-3BAA-AA39-E9D4-B9B1CB42A2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C45D7-1DC0-4D04-9F79-D06D9DA164E0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3897BE-F23D-C267-5A38-318915DAE4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DE93633-0145-B783-9D78-08C2ABE9B1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564AF-6A27-4F65-B2B4-68ABDDFA9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8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11C8C-058C-E814-723B-4DDAC932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D19D4-EB47-44A7-9620-F38C0A7CC9A6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93825-3118-3A0C-08D1-039A7781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97952-2AE7-3078-A4F7-DD88DDB1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97830-ABA3-46CC-B8F1-EA6F137930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799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4CEAB8-A5F7-023E-6762-4BD9EA807F7A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44249-DF0D-4C55-0290-88245002AFF3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34829FE-C7C2-C4FF-63F3-94D798E4F5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56946-21B1-4E87-9300-DB77D54AD9E9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D6F9A06-FB41-CA85-74B6-EAE223564B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13C5DC-4F0F-66CF-DFC2-0954E17525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9327A-EDDD-475E-811F-2D022F550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92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DB8EA-37DE-292E-59BD-6D253FBF6D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08DE3-4921-4B38-9F07-FC709697B469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9CA72-343C-D08F-9741-96D3313F87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BA9D-C2C9-1B15-88CD-A05B2AE562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32E63-C504-426D-8A44-E0EEFBF16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69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27433-A24C-40F6-8080-32BC2A32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FDB46-5D69-48C0-9E10-650E2CB8FADE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4DCA-0094-1796-F19F-F148EF8B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F8E3-B5FA-8912-4BB0-69ECCB12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BD7D-196E-4888-AC97-4FEE94D08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0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FF1A0-C7DA-FB3C-1081-21568CCB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A2F15-E46B-4587-817F-0B1BE3F810EB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2FFF3-E69A-6ECF-0312-E30C46B8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C8903-FE5E-FF3C-2EDE-4960F8D3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8DE09-5352-4CB8-8D19-CC946761DD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7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2C5F017A-3356-DB80-E4B6-0E3869552ECA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7EB74C6-6D88-92B3-36CB-12CF3201EE30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F750FC0-211D-AA74-88BF-85DDF365548A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DEF6EF4-577C-5A54-52C6-A62FE180AE79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201B2E9-0792-6A66-08F6-3209B45FC733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5B47518-9613-74E1-4867-C4793F4F20D4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2857000-F23A-1199-D09B-46CDC0F15169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DC692DC-F50A-586E-C0F9-EAA967F11C07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3F864D3-11F6-079E-2F9D-EA77DFCA216C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EAD8C25-7C31-87CB-BAAF-E8FCDBE8BA62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6965781-4306-FF67-48FC-BADF7BF0700D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F7E5BAA-A404-0022-8F1E-F646CCFDD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EC770F82-5997-DDB7-CA5D-B05D8A804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473AA-3238-1837-F87B-2AF37EB65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97D4D9-7DFE-409E-B687-447BA252669E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9A032-7002-E6E8-A1F2-9FF15D9EB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C8CB7-6989-22DB-5647-07B5007D0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6BED3951-E06D-4F71-AD97-026E26BF12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9" r:id="rId11"/>
    <p:sldLayoutId id="2147483944" r:id="rId12"/>
    <p:sldLayoutId id="2147483950" r:id="rId13"/>
    <p:sldLayoutId id="2147483945" r:id="rId14"/>
    <p:sldLayoutId id="2147483946" r:id="rId15"/>
    <p:sldLayoutId id="2147483947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dgs.un.org/goal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achefriends.org/" TargetMode="External"/><Relationship Id="rId3" Type="http://schemas.openxmlformats.org/officeDocument/2006/relationships/hyperlink" Target="https://www.myscheme.gov.in/" TargetMode="External"/><Relationship Id="rId7" Type="http://schemas.openxmlformats.org/officeDocument/2006/relationships/hyperlink" Target="https://www.php.net/docs.ph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mysql.com/doc" TargetMode="External"/><Relationship Id="rId5" Type="http://schemas.openxmlformats.org/officeDocument/2006/relationships/hyperlink" Target="https://ai.google.dev/" TargetMode="External"/><Relationship Id="rId4" Type="http://schemas.openxmlformats.org/officeDocument/2006/relationships/hyperlink" Target="https://www.india.gov.in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BF2DCC9F-44F6-8FDD-434A-4EB4FBC1B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E726DD-3577-00EC-0A71-3DC52DC665F2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196" name="Picture 3">
            <a:extLst>
              <a:ext uri="{FF2B5EF4-FFF2-40B4-BE49-F238E27FC236}">
                <a16:creationId xmlns:a16="http://schemas.microsoft.com/office/drawing/2014/main" id="{4E86060B-817C-338B-B261-9C3CF22E7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9388"/>
            <a:ext cx="7705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Box 1">
            <a:extLst>
              <a:ext uri="{FF2B5EF4-FFF2-40B4-BE49-F238E27FC236}">
                <a16:creationId xmlns:a16="http://schemas.microsoft.com/office/drawing/2014/main" id="{E7FD9789-DE4E-3F3A-D689-A915A39EF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587763"/>
            <a:ext cx="8569325" cy="430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SDG Goals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:SDG 10:Reduced Inequalities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SDG 16: Peace, Justice &amp; Strong Institutions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 Software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 -7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Members-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Janhavi More, Sayali Deve, Isha Sonawane,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Shreelesh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Pawar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Guide-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Prof. Snehal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Kangane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CBD8B41-CB39-3241-DE99-F259BEEA1EFD}"/>
              </a:ext>
            </a:extLst>
          </p:cNvPr>
          <p:cNvSpPr txBox="1">
            <a:spLocks/>
          </p:cNvSpPr>
          <p:nvPr/>
        </p:nvSpPr>
        <p:spPr bwMode="auto">
          <a:xfrm>
            <a:off x="1116013" y="2044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68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2pPr>
            <a:lvl3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3pPr>
            <a:lvl4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4pPr>
            <a:lvl5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n-I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Government Scheme Finder</a:t>
            </a:r>
            <a:endParaRPr lang="en-I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FDD0591-7AE4-0988-4E1A-77C20FA86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Outline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AE4C35A-B037-E6AD-A908-54E50B0CE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990600"/>
            <a:ext cx="9323388" cy="631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2EE3816-ACF1-02C7-7574-649EA3206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71" y="233155"/>
            <a:ext cx="9253867" cy="120829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Introduction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399D1C-D3F5-C5FB-C723-F526D0585E71}"/>
              </a:ext>
            </a:extLst>
          </p:cNvPr>
          <p:cNvSpPr txBox="1">
            <a:spLocks/>
          </p:cNvSpPr>
          <p:nvPr/>
        </p:nvSpPr>
        <p:spPr bwMode="auto">
          <a:xfrm>
            <a:off x="412750" y="1628775"/>
            <a:ext cx="9251950" cy="5535613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2400" b="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Background</a:t>
            </a:r>
          </a:p>
          <a:p>
            <a:pPr defTabSz="914400">
              <a:buNone/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lang="en-US" altLang="en-US" sz="22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provides various welfare schemes for citizens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distributed across multiple portals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users are unaware of eligibility criteria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defRPr/>
            </a:pPr>
            <a:r>
              <a:rPr lang="en-US" altLang="en-US" sz="2400" b="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Importance</a:t>
            </a:r>
          </a:p>
          <a:p>
            <a:pPr defTabSz="914400">
              <a:buNone/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  </a:t>
            </a:r>
            <a:r>
              <a:rPr lang="en-US" altLang="en-US" sz="22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Deserving people often miss scheme benefits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Eligibility rules are complex to understand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Lack of a personalized recommendation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None/>
              <a:defRPr/>
            </a:pPr>
            <a:r>
              <a:rPr lang="en-US" altLang="en-US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0604-6554-5C57-EFDC-6517C6B8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DF957A9-51BE-ACCB-D660-DFADAB000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79388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Introduction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244E61D-79ED-F426-45F5-A3401F99F6F3}"/>
              </a:ext>
            </a:extLst>
          </p:cNvPr>
          <p:cNvSpPr txBox="1">
            <a:spLocks/>
          </p:cNvSpPr>
          <p:nvPr/>
        </p:nvSpPr>
        <p:spPr bwMode="auto">
          <a:xfrm>
            <a:off x="414337" y="1275924"/>
            <a:ext cx="9251950" cy="5535613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Font typeface="Arial" panose="020B0604020202020204" pitchFamily="34" charset="0"/>
              <a:buNone/>
              <a:defRPr/>
            </a:pPr>
            <a:endParaRPr lang="en-US" altLang="en-US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defRPr/>
            </a:pPr>
            <a:r>
              <a:rPr lang="en-US" altLang="en-US" sz="2400" b="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Motivation</a:t>
            </a:r>
          </a:p>
          <a:p>
            <a:pPr defTabSz="914400">
              <a:buNone/>
              <a:defRPr/>
            </a:pPr>
            <a:r>
              <a:rPr lang="en-US" altLang="en-US" sz="24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    </a:t>
            </a: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awareness about schemes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financial inclusion among citizens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SDG 10 and SDG 16 goals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None/>
              <a:defRPr/>
            </a:pP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defRPr/>
            </a:pPr>
            <a:r>
              <a:rPr lang="en-US" altLang="en-US" sz="2400" b="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Objectives</a:t>
            </a:r>
          </a:p>
          <a:p>
            <a:pPr marL="0" indent="0"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    -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eligibility-based smart system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scheme suggestions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“Why am I eligible?” clearly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None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process of finding schemes</a:t>
            </a:r>
            <a:endParaRPr lang="en-US" altLang="en-US" sz="2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129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4E562E6F-51F3-A35B-A72D-ADCEDA646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8E39621-0D71-7B0C-F26D-067FBEB7B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4899"/>
            <a:ext cx="9070975" cy="5388414"/>
          </a:xfrm>
          <a:prstGeom prst="rect">
            <a:avLst/>
          </a:prstGeom>
          <a:noFill/>
          <a:ln>
            <a:noFill/>
          </a:ln>
        </p:spPr>
        <p:txBody>
          <a:bodyPr lIns="0" tIns="21240" rIns="0" bIns="0" anchor="t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/>
                <a:cs typeface="Times New Roman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and state government portals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MyScheme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portal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 with category-based filtering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FAQ chatbot systems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/>
                <a:cs typeface="Times New Roman"/>
              </a:rPr>
              <a:t>Methodologies Used Existing System</a:t>
            </a:r>
            <a:endParaRPr lang="en-US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/>
                <a:cs typeface="Times New Roman"/>
              </a:rPr>
              <a:t>    </a:t>
            </a: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searching by users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filtering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display of scheme data</a:t>
            </a:r>
            <a:endParaRPr lang="en-US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Identified</a:t>
            </a: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/>
                <a:cs typeface="Times New Roman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intelligent eligibility matching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recommendations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tabLst/>
              <a:defRPr/>
            </a:pP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navigation and poor user experience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defRPr/>
            </a:pPr>
            <a:r>
              <a:rPr lang="en-IN" altLang="en-US" sz="3600" i="1" dirty="0">
                <a:solidFill>
                  <a:srgbClr val="FF0000"/>
                </a:solidFill>
                <a:latin typeface="Times New Roman"/>
                <a:cs typeface="Times New Roman"/>
              </a:rPr>
              <a:t>		</a:t>
            </a:r>
            <a:endParaRPr lang="en-IN" altLang="en-US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839B32E-9556-3DFD-9E55-46FBCBCDC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Limitations of existing Systems 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C420940-8076-8345-098F-AE3C92D3C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75EE2-8B5B-3245-DB56-CCF916F2E8F0}"/>
              </a:ext>
            </a:extLst>
          </p:cNvPr>
          <p:cNvSpPr txBox="1"/>
          <p:nvPr/>
        </p:nvSpPr>
        <p:spPr>
          <a:xfrm>
            <a:off x="503238" y="1409252"/>
            <a:ext cx="755424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filtering is required by users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is time-consuming and inefficient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personalized dashboard or tracking 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proper explanation for eligibility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intelligent and automated filtering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89AA-0746-1D73-298C-2A8398BB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61819"/>
            <a:ext cx="7969250" cy="804862"/>
          </a:xfrm>
        </p:spPr>
        <p:txBody>
          <a:bodyPr/>
          <a:lstStyle/>
          <a:p>
            <a:pPr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 Problem statement and Objectives</a:t>
            </a:r>
            <a:endParaRPr lang="en-IN" sz="36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F869-2813-9FF8-5870-ADFD29FCD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89" y="1466681"/>
            <a:ext cx="7988831" cy="5616575"/>
          </a:xfrm>
        </p:spPr>
        <p:txBody>
          <a:bodyPr/>
          <a:lstStyle/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GB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/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web-based system that recommends government schemes based on user eligibility and also explains the reason behind selection in a clear manner.</a:t>
            </a:r>
            <a:endParaRPr lang="en-GB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endParaRPr lang="en-GB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GB" altLang="en-US" sz="2400" b="1" dirty="0">
                <a:solidFill>
                  <a:prstClr val="black"/>
                </a:solidFill>
                <a:latin typeface="Times New Roman"/>
                <a:cs typeface="Times New Roman"/>
              </a:rPr>
              <a:t>Objectives</a:t>
            </a: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r>
              <a:rPr lang="en-GB" altLang="en-US" sz="2400" dirty="0">
                <a:solidFill>
                  <a:prstClr val="black"/>
                </a:solidFill>
                <a:latin typeface="Times New Roman"/>
                <a:cs typeface="Times New Roman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demographic details accurately</a:t>
            </a:r>
            <a:endParaRPr lang="en-GB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r>
              <a:rPr lang="en-GB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rule-based eligibility logic efficiently</a:t>
            </a:r>
            <a:endParaRPr lang="en-GB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r>
              <a:rPr lang="en-GB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only relevant and eligible schemes</a:t>
            </a:r>
            <a:endParaRPr lang="en-GB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r>
              <a:rPr lang="en-GB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chatbot-based guidance</a:t>
            </a:r>
            <a:endParaRPr lang="en-GB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buClrTx/>
              <a:buSzTx/>
              <a:buNone/>
              <a:defRPr/>
            </a:pPr>
            <a:r>
              <a:rPr lang="en-GB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transparency in filtering process</a:t>
            </a:r>
            <a:endParaRPr lang="en-GB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716E62-8766-5575-CF35-B69590CDB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FEF623E-971D-B77C-731C-ED36861CB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TextBox 2">
            <a:extLst>
              <a:ext uri="{FF2B5EF4-FFF2-40B4-BE49-F238E27FC236}">
                <a16:creationId xmlns:a16="http://schemas.microsoft.com/office/drawing/2014/main" id="{39A7B057-F557-3F5D-2093-970F259AE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731963"/>
            <a:ext cx="8929687" cy="53737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Module for data input and interaction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for managing scheme data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Engine for applying rules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 for filtering schemes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 for assistance</a:t>
            </a: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GB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Value Addition</a:t>
            </a: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Eligibility-based smart recommendations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“Why Am I Eligible?” explanation feature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mode for non-technical users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and understandable filtering logic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GB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support for real-time guidance</a:t>
            </a:r>
            <a:endParaRPr lang="en-GB" alt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CA37-0F7E-AD02-3AA4-E4CDC179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0CCA100-6581-E6DC-91A9-9B85F1D14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1B2BF0C-4C5E-784D-D5C4-68DC60042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TextBox 2">
            <a:extLst>
              <a:ext uri="{FF2B5EF4-FFF2-40B4-BE49-F238E27FC236}">
                <a16:creationId xmlns:a16="http://schemas.microsoft.com/office/drawing/2014/main" id="{FD40D63C-3B7A-3983-5346-58B8AEC10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731963"/>
            <a:ext cx="8929687" cy="9048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GB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EFC623-67E6-6C57-1C55-670C3920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43" y="2636826"/>
            <a:ext cx="7887995" cy="33311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54295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660A5-7CF7-C94E-8948-6965819BC4A4}"/>
              </a:ext>
            </a:extLst>
          </p:cNvPr>
          <p:cNvSpPr txBox="1"/>
          <p:nvPr/>
        </p:nvSpPr>
        <p:spPr>
          <a:xfrm>
            <a:off x="1079500" y="466725"/>
            <a:ext cx="72739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3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TextBox 4">
            <a:extLst>
              <a:ext uri="{FF2B5EF4-FFF2-40B4-BE49-F238E27FC236}">
                <a16:creationId xmlns:a16="http://schemas.microsoft.com/office/drawing/2014/main" id="{EAB20857-F718-9549-B13E-073C8F91D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1091834"/>
            <a:ext cx="8280400" cy="6741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/>
                <a:cs typeface="Times New Roman"/>
              </a:rPr>
              <a:t> </a:t>
            </a:r>
            <a:r>
              <a:rPr lang="en-US" altLang="en-US" sz="2400" b="1" dirty="0">
                <a:latin typeface="Times New Roman"/>
                <a:cs typeface="Times New Roman"/>
              </a:rPr>
              <a:t>Dataset</a:t>
            </a:r>
          </a:p>
          <a:p>
            <a:pPr algn="just"/>
            <a:r>
              <a:rPr lang="en-US" altLang="en-US" sz="2200" dirty="0">
                <a:latin typeface="Times New Roman"/>
                <a:cs typeface="Times New Roman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scheme dataset (name, benefits, category, rules)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dataset (age, income, state, caste, occupation)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/>
                <a:cs typeface="Times New Roman"/>
              </a:rPr>
              <a:t>Technologies Used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/>
                <a:cs typeface="Times New Roman"/>
              </a:rPr>
              <a:t>   - Frontend: HTML, CSS , JavaScript 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/>
                <a:cs typeface="Times New Roman"/>
              </a:rPr>
              <a:t>   - Backend: PHP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/>
                <a:cs typeface="Times New Roman"/>
              </a:rPr>
              <a:t>   - Database: MySQL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/>
                <a:cs typeface="Times New Roman"/>
              </a:rPr>
              <a:t>   - Server: XAMPP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/>
                <a:cs typeface="Times New Roman"/>
              </a:rPr>
              <a:t>Performance Parameters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/>
                <a:cs typeface="Times New Roman"/>
              </a:rPr>
              <a:t> 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scheme recommendations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for generating results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 and ease of use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/>
                <a:cs typeface="Times New Roman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usability and efficiency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E2FB5AB3-87AD-65C1-2D00-C79D4B61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FE3BA9F-4B95-D03F-3177-36B57F5BC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TextBox 2">
            <a:extLst>
              <a:ext uri="{FF2B5EF4-FFF2-40B4-BE49-F238E27FC236}">
                <a16:creationId xmlns:a16="http://schemas.microsoft.com/office/drawing/2014/main" id="{309A28F7-FAE9-F40A-1ECC-654A8A8F3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2" y="695696"/>
            <a:ext cx="7345363" cy="41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Calibri"/>
              <a:buChar char="-"/>
            </a:pPr>
            <a:r>
              <a:rPr lang="en-US" altLang="en-US" sz="1600">
                <a:latin typeface="Times New Roman"/>
                <a:cs typeface="Times New Roman"/>
              </a:rPr>
              <a:t>Home page                                                                    -  User Dashboard</a:t>
            </a:r>
            <a:endParaRPr lang="en-US"/>
          </a:p>
        </p:txBody>
      </p:sp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C31FF4A5-8D34-077B-6AEF-473E51D5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69" y="1182687"/>
            <a:ext cx="4779718" cy="2594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383C52-7F2E-581B-2838-4C5BAE778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036" y="1180219"/>
            <a:ext cx="4542782" cy="2603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A4BFB3-DE57-C66A-EF8D-56B94DD115E5}"/>
              </a:ext>
            </a:extLst>
          </p:cNvPr>
          <p:cNvSpPr txBox="1"/>
          <p:nvPr/>
        </p:nvSpPr>
        <p:spPr>
          <a:xfrm>
            <a:off x="503271" y="3972878"/>
            <a:ext cx="681734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Calibri,Sans-Serif"/>
              <a:buChar char="-"/>
            </a:pPr>
            <a:r>
              <a:rPr lang="en-US" sz="1600">
                <a:latin typeface="Times New Roman"/>
                <a:ea typeface="Arial"/>
                <a:cs typeface="Arial"/>
              </a:rPr>
              <a:t>Admin Dashboard                                                            -  Mode Selection</a:t>
            </a:r>
          </a:p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EF3731-FEEA-9B76-8636-7DECBFB7A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387" y="4275164"/>
            <a:ext cx="4542781" cy="280986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F4FED7-89F4-027A-77B6-ECAEC1986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812" y="4273805"/>
            <a:ext cx="4530886" cy="29184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A4BC0-6E95-5BD3-8D2F-27802B47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C53A5B2-56F4-14D4-8487-1A578F021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F8C59BF-8A7C-9993-E643-CED193B7C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TextBox 2">
            <a:extLst>
              <a:ext uri="{FF2B5EF4-FFF2-40B4-BE49-F238E27FC236}">
                <a16:creationId xmlns:a16="http://schemas.microsoft.com/office/drawing/2014/main" id="{AAF505D9-D8D7-8C71-180C-E12AE8653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2" y="695696"/>
            <a:ext cx="7345363" cy="41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Calibri"/>
              <a:buChar char="-"/>
            </a:pPr>
            <a:r>
              <a:rPr lang="en-US" altLang="en-US" sz="1600">
                <a:latin typeface="Times New Roman"/>
                <a:cs typeface="Times New Roman"/>
              </a:rPr>
              <a:t>Information Form                                                           -  Result Page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9D29B-4BF0-221C-B5AB-5E42547E29FB}"/>
              </a:ext>
            </a:extLst>
          </p:cNvPr>
          <p:cNvSpPr txBox="1"/>
          <p:nvPr/>
        </p:nvSpPr>
        <p:spPr>
          <a:xfrm>
            <a:off x="503271" y="3972878"/>
            <a:ext cx="681734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Calibri,Sans-Serif"/>
              <a:buChar char="-"/>
            </a:pPr>
            <a:r>
              <a:rPr lang="en-US" sz="1600">
                <a:latin typeface="Times New Roman"/>
                <a:ea typeface="Arial"/>
                <a:cs typeface="Arial"/>
              </a:rPr>
              <a:t>Admin Dashboard                                                            -  Mode Selection</a:t>
            </a:r>
          </a:p>
          <a:p>
            <a:pPr algn="ctr"/>
            <a:endParaRPr lang="en-US"/>
          </a:p>
        </p:txBody>
      </p:sp>
      <p:pic>
        <p:nvPicPr>
          <p:cNvPr id="4" name="Picture 3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A37ECB04-7BD3-E131-AA47-4532C411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83" y="1144246"/>
            <a:ext cx="3681049" cy="565928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53BE61-E89D-6018-65B2-356FEA6F1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969" y="1282579"/>
            <a:ext cx="4920064" cy="461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92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3FB93-D260-DDF3-4161-3B8DDB5E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4A8B997-FCBE-8316-7E65-5598F8D3C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62AF57F-89BD-70DF-FE71-FD8566A2B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TextBox 2">
            <a:extLst>
              <a:ext uri="{FF2B5EF4-FFF2-40B4-BE49-F238E27FC236}">
                <a16:creationId xmlns:a16="http://schemas.microsoft.com/office/drawing/2014/main" id="{AB48629A-6B3A-9FA0-5D5E-1BB5B2C0F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72" y="695696"/>
            <a:ext cx="7345363" cy="41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Calibri"/>
              <a:buChar char="-"/>
            </a:pPr>
            <a:r>
              <a:rPr lang="en-US" altLang="en-US" sz="1600" err="1">
                <a:latin typeface="Times New Roman"/>
                <a:cs typeface="Times New Roman"/>
              </a:rPr>
              <a:t>Chatboat</a:t>
            </a:r>
            <a:r>
              <a:rPr lang="en-US" altLang="en-US" sz="1600">
                <a:latin typeface="Times New Roman"/>
                <a:cs typeface="Times New Roman"/>
              </a:rPr>
              <a:t>                                                           - Assisted mode</a:t>
            </a:r>
          </a:p>
        </p:txBody>
      </p:sp>
      <p:pic>
        <p:nvPicPr>
          <p:cNvPr id="3" name="Picture 2" descr="A screenshot of a review&#10;&#10;AI-generated content may be incorrect.">
            <a:extLst>
              <a:ext uri="{FF2B5EF4-FFF2-40B4-BE49-F238E27FC236}">
                <a16:creationId xmlns:a16="http://schemas.microsoft.com/office/drawing/2014/main" id="{E3BFA78B-1B65-C21E-7AB2-9EBF5F0DC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60" y="1100220"/>
            <a:ext cx="4725839" cy="5802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86808F-26DB-B549-C39A-AF33A998A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38" y="1253490"/>
            <a:ext cx="3940810" cy="5269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73564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C7DA26C0-1549-00A4-EAF2-CFBFBB4AF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B294774-B2F4-EF61-F3C9-7768D6D98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570EBE01-BCDB-0560-B85D-9FC0DBF12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1363812"/>
            <a:ext cx="8710613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around 100% accuracy in recommendations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performance compared to manual portals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agents and middlemen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 and satisfaction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9ACB47-18D6-0904-56FE-D3CAB0790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706774"/>
              </p:ext>
            </p:extLst>
          </p:nvPr>
        </p:nvGraphicFramePr>
        <p:xfrm>
          <a:off x="1258645" y="3923853"/>
          <a:ext cx="6685660" cy="22715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69499">
                  <a:extLst>
                    <a:ext uri="{9D8B030D-6E8A-4147-A177-3AD203B41FA5}">
                      <a16:colId xmlns:a16="http://schemas.microsoft.com/office/drawing/2014/main" val="2624176642"/>
                    </a:ext>
                  </a:extLst>
                </a:gridCol>
                <a:gridCol w="2176022">
                  <a:extLst>
                    <a:ext uri="{9D8B030D-6E8A-4147-A177-3AD203B41FA5}">
                      <a16:colId xmlns:a16="http://schemas.microsoft.com/office/drawing/2014/main" val="796904284"/>
                    </a:ext>
                  </a:extLst>
                </a:gridCol>
                <a:gridCol w="2240139">
                  <a:extLst>
                    <a:ext uri="{9D8B030D-6E8A-4147-A177-3AD203B41FA5}">
                      <a16:colId xmlns:a16="http://schemas.microsoft.com/office/drawing/2014/main" val="3178024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38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1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Smart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1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Eligibility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15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Chatbot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934988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338753D6-4711-6666-4027-5D3A5A0DD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533DD68-56D8-EE8E-D8E5-792B738B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62101792-D5D7-6093-D65B-6E13EAB1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02059"/>
            <a:ext cx="8710613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smart scheme finder system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awareness and accessibility of schemes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transparent eligibility explanations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supports SDG-based goals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Integration of AI-based recommendation system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- </a:t>
            </a:r>
            <a:r>
              <a:rPr lang="en-IN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Multi-language support for wider accessibility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Development of mobile application version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- </a:t>
            </a:r>
            <a:r>
              <a:rPr 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Real-time integration with government APIs</a:t>
            </a:r>
            <a:endParaRPr lang="en-US" altLang="en-US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BF6BA03C-4E21-9710-83C7-2EE5067A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" y="-31749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References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8FC5AD0-325A-3823-1F90-5E9E56B8F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Content Placeholder 2">
            <a:extLst>
              <a:ext uri="{FF2B5EF4-FFF2-40B4-BE49-F238E27FC236}">
                <a16:creationId xmlns:a16="http://schemas.microsoft.com/office/drawing/2014/main" id="{944BBA75-BF96-DC53-DF73-BC059216B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0" y="801687"/>
            <a:ext cx="8677275" cy="2799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Government of India,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myScheme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Portal – Government Scheme Discovery Platform,”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https://www.myscheme.gov.in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Government of India,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“National Portal of India,”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https://www.india.gov.in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Google AI,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“Gemini API Documentation,”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Developers, 2024.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https://ai.google.dev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Oracle Corporation,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8.0 Reference Manual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Oracle, 2023.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https://dev.mysql.com/doc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PHP Group,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Manual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https://www.php.net/docs.php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Apache Friends,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Documentation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Friends, 2023.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https://www.apachefriends.org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I. Sommerville,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10th ed. Boston, MA, USA: Pearson, 2016.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R. S. Pressman and B. R. Maxim,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Practitioner’s Approach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8th ed. New York, NY, USA: McGraw-Hill, 2015.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Han, M. Kamber, and J. Pei,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Mining: Concepts and Techniques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San Francisco, CA, USA: Morgan Kaufmann, 2012.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S. Russell and P. Norvig,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 Modern Approach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ed. Upper Saddle River, NJ, USA: Pearson, 2010.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A.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Heeks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“Information Systems and Developing Countries: Failure, Success and Local Improvisations,”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Society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2, pp. 101-112, 2002.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0F351279-CF7F-09F6-6010-C715CDEB1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1042</Words>
  <Application>Microsoft Office PowerPoint</Application>
  <PresentationFormat>Custom</PresentationFormat>
  <Paragraphs>177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Calibri,Sans-Serif</vt:lpstr>
      <vt:lpstr>Tahoma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Problem statement and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morejanhavi569@gmail.com</cp:lastModifiedBy>
  <cp:revision>10</cp:revision>
  <cp:lastPrinted>1601-01-01T00:00:00Z</cp:lastPrinted>
  <dcterms:created xsi:type="dcterms:W3CDTF">2017-10-25T08:22:14Z</dcterms:created>
  <dcterms:modified xsi:type="dcterms:W3CDTF">2026-04-18T15:46:17Z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